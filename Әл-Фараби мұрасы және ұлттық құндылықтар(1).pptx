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ora" pitchFamily="2" charset="-52"/>
      <p:regular r:id="rId13"/>
      <p:bold r:id="rId14"/>
      <p:italic r:id="rId15"/>
      <p:boldItalic r:id="rId16"/>
    </p:embeddedFont>
    <p:embeddedFont>
      <p:font typeface="Plus Jakarta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504283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504283"/>
            <a:ext cx="7620000" cy="9525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583781" y="4742408"/>
            <a:ext cx="9525" cy="409575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134641"/>
            <a:ext cx="9101137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Әл-Фараби мұрасы және ұлттық құндылықтар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551783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«Қайырымды қала тұрғындарының көзқарастары» трактаты негізіндегі моральдық-парасаттылық бағдарлар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1706016"/>
            <a:ext cx="44994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ФИЛОСОФИЯЛЫҚ-ЭТИКАЛЫҚ ЗЕРТТЕУ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742408"/>
            <a:ext cx="333672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8716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Дереккөз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951958"/>
            <a:ext cx="333672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Әбу Насыр әл-Фараби трактаттары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98106" y="4742408"/>
            <a:ext cx="302623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8716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Негізгі идея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898106" y="4951958"/>
            <a:ext cx="302623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Адамгершілік, Білім, Әділеттілік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201525" y="344725"/>
            <a:ext cx="1664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</a:t>
            </a:r>
            <a:r>
              <a:rPr lang="en-US" b="1" dirty="0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1" dirty="0" err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Әділет</a:t>
            </a:r>
            <a:r>
              <a:rPr lang="en-US" b="1" dirty="0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9”</a:t>
            </a: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Ә”</a:t>
            </a:r>
            <a:endParaRPr lang="kk-KZ" b="1" dirty="0">
              <a:solidFill>
                <a:srgbClr val="8C2D1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5856982" y="2852737"/>
            <a:ext cx="5725417" cy="819150"/>
          </a:xfrm>
          <a:prstGeom prst="rect">
            <a:avLst/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856982" y="2852737"/>
            <a:ext cx="38100" cy="819150"/>
          </a:xfrm>
          <a:prstGeom prst="rect">
            <a:avLst/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895475"/>
            <a:ext cx="4790182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title="Әл–Фарабидың__Философиялық_трактаттары_.jpg"/>
          <p:cNvPicPr preferRelativeResize="0"/>
          <p:nvPr/>
        </p:nvPicPr>
        <p:blipFill rotWithShape="1">
          <a:blip r:embed="rId4">
            <a:alphaModFix/>
          </a:blip>
          <a:srcRect t="13370" b="13370"/>
          <a:stretch/>
        </p:blipFill>
        <p:spPr>
          <a:xfrm>
            <a:off x="619125" y="1905000"/>
            <a:ext cx="4771132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6982" y="38957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6982" y="4305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6982" y="471487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ӨРКЕНИЕТТЕР ДИАЛОГЫ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Әл-Фараби еңбектерінің өзектілігі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123682" y="3043237"/>
            <a:ext cx="532536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«Адамзат парасат мен қайырымдылық арқылы ғана кемелдікке жетеді.»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190357" y="3862387"/>
            <a:ext cx="60016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Рухани қазына:</a:t>
            </a:r>
            <a:r>
              <a:rPr lang="en-US" sz="150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Шығыс пен Батыс ойының алтын көпірі.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161782" y="4271962"/>
            <a:ext cx="603021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Әлеуметтік бағдар:</a:t>
            </a:r>
            <a:r>
              <a:rPr lang="en-US" sz="150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Қоғамдық дамудың моральдық іргетасы.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209407" y="4681537"/>
            <a:ext cx="59825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Ұлттық сабақтастық:</a:t>
            </a:r>
            <a:r>
              <a:rPr lang="en-US" sz="150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Қазақ дүниетанымымен үндес құндылықтар.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09600" y="1428750"/>
            <a:ext cx="10972800" cy="1120080"/>
          </a:xfrm>
          <a:prstGeom prst="roundRect">
            <a:avLst>
              <a:gd name="adj" fmla="val 10204"/>
            </a:avLst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9600" y="2853630"/>
            <a:ext cx="5353050" cy="3547169"/>
          </a:xfrm>
          <a:prstGeom prst="roundRect">
            <a:avLst>
              <a:gd name="adj" fmla="val 3222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229350" y="2853630"/>
            <a:ext cx="5353050" cy="3547169"/>
          </a:xfrm>
          <a:prstGeom prst="roundRect">
            <a:avLst>
              <a:gd name="adj" fmla="val 3222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9600" y="2853630"/>
            <a:ext cx="5353050" cy="381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229350" y="2853630"/>
            <a:ext cx="5353050" cy="38100"/>
          </a:xfrm>
          <a:prstGeom prst="rect">
            <a:avLst/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17748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6050" y="31774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ПЕДАГОГИКАЛЫҚ КОНЦЕПЦИЯ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Тәрбие мен білім сабақтастығы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52500" y="1695450"/>
            <a:ext cx="103822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AF8F5"/>
                </a:solidFill>
                <a:latin typeface="Lora"/>
                <a:ea typeface="Lora"/>
                <a:cs typeface="Lora"/>
                <a:sym typeface="Lora"/>
              </a:rPr>
              <a:t>«Адамға ең бірінші білім емес, тәрбие берілуі керек. Тәрбиесіз берілген білім – адамзаттың қас жауы.»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76300" y="3577530"/>
            <a:ext cx="60245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Логикалық ойлау мен ғылымды меңгеру.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76300" y="3920430"/>
            <a:ext cx="60245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Әлемнің ақиқатын ашу құралы.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496050" y="3577530"/>
            <a:ext cx="5695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Адамгершілік пен оң әрекеттер жүйесі.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96050" y="3920430"/>
            <a:ext cx="5695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Рухани жетілудің негізгі баспалдағы.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19200" y="3158430"/>
            <a:ext cx="44630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Интеллектуалдық даму (Білім)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838950" y="3158430"/>
            <a:ext cx="36879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Моральдық негіз (Тәрбие)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609600" y="295275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0ECE1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343400" y="295275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0ECE1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077200" y="295275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0ECE1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267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1525" y="3267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5325" y="3267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87" y="34004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1062" y="34004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4862" y="34004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ҚОҒАМДЫҚ МОДЕЛЬ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«Қайырымды қала» – Тұтас организм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47725" y="3914775"/>
            <a:ext cx="397549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Басқарушы («Жүрек»)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47725" y="4295775"/>
            <a:ext cx="37861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Бағыт беруші парасатты көшбасшы.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81525" y="3914775"/>
            <a:ext cx="397549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Атқарушы мүшелер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581525" y="4295775"/>
            <a:ext cx="37861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Адал еңбек етуші қоғам мүшелері.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15325" y="3914775"/>
            <a:ext cx="387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Өзара ынтымақтастық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15325" y="4295775"/>
            <a:ext cx="37861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Қоғамдық бірлік пен гармония.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609600" y="3048000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400425" y="3148012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191250" y="3148012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8982075" y="3148012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АДАМГЕРШІЛІК НЕГІЗДЕРІ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Фараби іліміндегі 4 негізгі құндылық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625" y="3324225"/>
            <a:ext cx="27503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C2D19"/>
                </a:solidFill>
                <a:latin typeface="Lora"/>
                <a:ea typeface="Lora"/>
                <a:cs typeface="Lora"/>
                <a:sym typeface="Lora"/>
              </a:rPr>
              <a:t>01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09625" y="3790950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Парасаттылық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09625" y="4105275"/>
            <a:ext cx="22955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Терең білім мен даналыққа ұмтылу.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3600450" y="3424237"/>
            <a:ext cx="27503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C2D19"/>
                </a:solidFill>
                <a:latin typeface="Lora"/>
                <a:ea typeface="Lora"/>
                <a:cs typeface="Lora"/>
                <a:sym typeface="Lora"/>
              </a:rPr>
              <a:t>02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600450" y="3890962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Әділеттілік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600450" y="4205287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Қоғамдық теңдік пен адалдық.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391275" y="3424237"/>
            <a:ext cx="27503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C2D19"/>
                </a:solidFill>
                <a:latin typeface="Lora"/>
                <a:ea typeface="Lora"/>
                <a:cs typeface="Lora"/>
                <a:sym typeface="Lora"/>
              </a:rPr>
              <a:t>03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91275" y="3890962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Қайырымдылық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391275" y="4205287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Бауырмалдық пен мейірімділік.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182100" y="3424237"/>
            <a:ext cx="275034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C2D19"/>
                </a:solidFill>
                <a:latin typeface="Lora"/>
                <a:ea typeface="Lora"/>
                <a:cs typeface="Lora"/>
                <a:sym typeface="Lora"/>
              </a:rPr>
              <a:t>04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182100" y="3890962"/>
            <a:ext cx="28878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Бұқаралық бірлік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82100" y="4205287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Тұтастық пен ел тыныштығы.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609600" y="2447925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09600" y="3476625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09600" y="4505325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76300" y="26765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76300" y="37052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76300" y="4733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«БАҚЫТҚА ЖЕТУ ТУРАЛЫ»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Шынайы бақытқа жету жолы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33425" y="267652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33425" y="370522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33425" y="473392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447800" y="2638425"/>
            <a:ext cx="10744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Жақсылыққа ұмтылу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447800" y="2895600"/>
            <a:ext cx="10744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Әрбір іс-әрекетті ізгі ниетпен орындау.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447800" y="3667125"/>
            <a:ext cx="10744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Теориялық және практикалық білім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447800" y="3924300"/>
            <a:ext cx="10744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Ақыл-парасат пен тәжірибені ұштастыру.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447800" y="4695825"/>
            <a:ext cx="10744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Қоғамға пайда келтіру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447800" y="4953000"/>
            <a:ext cx="10744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Ел игілігі үшін адал қызмет ету.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609600" y="1428750"/>
            <a:ext cx="5314950" cy="4972050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267450" y="1428750"/>
            <a:ext cx="5314950" cy="4972050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17240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3675" y="17240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МЕМЛЕКЕТТІЛІК ТҰЖЫРЫМЫ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Ізгі басшының бойындағы қасиеттер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285875" y="1704975"/>
            <a:ext cx="352544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Парасаттылық пен білім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85825" y="2162175"/>
            <a:ext cx="595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Зерделілік:</a:t>
            </a: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Мүлтіксіз ақыл-ой мен ойлау қабілеті.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85825" y="2505075"/>
            <a:ext cx="595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Шыншылдық:</a:t>
            </a: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Өтірік пен алаяқтыққа төзбеушілік.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85825" y="2847975"/>
            <a:ext cx="595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Білімпаздық:</a:t>
            </a: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Ғылымға деген шексіз құштарлық.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943725" y="1704975"/>
            <a:ext cx="381297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Әлеуметтік жауапкершілік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543675" y="2162175"/>
            <a:ext cx="5648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Әділдік:</a:t>
            </a: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Халық арасында теңдікті орнату.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543675" y="2505075"/>
            <a:ext cx="5648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Қанағатшылдық:</a:t>
            </a: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Дүние-мүлікке әуестіктен арылу.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543675" y="2847975"/>
            <a:ext cx="5648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C19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Қайсарлық:</a:t>
            </a: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Ел мүддесі жолындағы батылдық.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609600" y="2466975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09600" y="4257675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09600" y="2466975"/>
            <a:ext cx="57150" cy="11049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09600" y="4257675"/>
            <a:ext cx="57150" cy="1104900"/>
          </a:xfrm>
          <a:prstGeom prst="rect">
            <a:avLst/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7412" y="38004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ЗАМАНАУИ САБАҚТАСТЫҚ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«Адал азамат» пен Фараби ілімі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71550" y="2733675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Әл-Фарабидің «Кемел Адамы»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71550" y="3076575"/>
            <a:ext cx="11220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Рухани жетілген, білімді, қайырымды және ортақ игілікке адал қызмет ететін тұлға.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971550" y="4524375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C2D19"/>
                </a:solidFill>
                <a:latin typeface="Lora"/>
                <a:ea typeface="Lora"/>
                <a:cs typeface="Lora"/>
                <a:sym typeface="Lora"/>
              </a:rPr>
              <a:t>Заманауи «Адал Азамат»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71550" y="4867275"/>
            <a:ext cx="11220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0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Еңбекқор, отаншыл, әділеттілік пен заңдылықты ту ететін жауапты азамат.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/>
          <p:nvPr/>
        </p:nvSpPr>
        <p:spPr>
          <a:xfrm>
            <a:off x="609600" y="1390650"/>
            <a:ext cx="10972800" cy="695325"/>
          </a:xfrm>
          <a:prstGeom prst="roundRect">
            <a:avLst>
              <a:gd name="adj" fmla="val 16438"/>
            </a:avLst>
          </a:prstGeom>
          <a:solidFill>
            <a:srgbClr val="F0E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09600" y="1390650"/>
            <a:ext cx="38100" cy="695325"/>
          </a:xfrm>
          <a:prstGeom prst="rect">
            <a:avLst/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09600" y="2352675"/>
            <a:ext cx="5353050" cy="4048125"/>
          </a:xfrm>
          <a:prstGeom prst="roundRect">
            <a:avLst>
              <a:gd name="adj" fmla="val 2823"/>
            </a:avLst>
          </a:prstGeom>
          <a:solidFill>
            <a:srgbClr val="F0ECE1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229350" y="2352675"/>
            <a:ext cx="5353050" cy="4048125"/>
          </a:xfrm>
          <a:prstGeom prst="roundRect">
            <a:avLst>
              <a:gd name="adj" fmla="val 2823"/>
            </a:avLst>
          </a:prstGeom>
          <a:solidFill>
            <a:srgbClr val="F0ECE1"/>
          </a:solidFill>
          <a:ln w="9525" cap="flat" cmpd="sng">
            <a:solidFill>
              <a:srgbClr val="E2DC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26765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5575" y="26765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МОРАЛЬДЫҚ ЕСКЕРТУЛЕР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Надандық пен озбырлықтан сақтану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52500" y="1619250"/>
            <a:ext cx="11239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C2D19"/>
                </a:solidFill>
                <a:latin typeface="Lora"/>
                <a:ea typeface="Lora"/>
                <a:cs typeface="Lora"/>
                <a:sym typeface="Lora"/>
              </a:rPr>
              <a:t>«Қайырымсыз қалалар – нәпсіге, озбырлыққа және алауыздыққа негізделген.»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85825" y="3114675"/>
            <a:ext cx="63007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Алауыздық пен нәпсі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85825" y="3495675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Жеке бастың пайдасын ортақ мүддеден жоғары қою қоғамды күйретеді.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505575" y="3114675"/>
            <a:ext cx="56864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Парасатсыз басқару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505575" y="3495675"/>
            <a:ext cx="5686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Әділеттіліктің жоқтығы мемлекеттің құлдырауына әкеледі.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5810250" y="3255615"/>
            <a:ext cx="571500" cy="19050"/>
          </a:xfrm>
          <a:prstGeom prst="rect">
            <a:avLst/>
          </a:prstGeom>
          <a:solidFill>
            <a:srgbClr val="8C2D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318391" y="2040284"/>
            <a:ext cx="15550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ҚОРЫТЫНДЫ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1676697" y="2468909"/>
            <a:ext cx="8838604" cy="520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C1917"/>
                </a:solidFill>
                <a:latin typeface="Lora"/>
                <a:ea typeface="Lora"/>
                <a:cs typeface="Lora"/>
                <a:sym typeface="Lora"/>
              </a:rPr>
              <a:t>Адамзатқа ортақ парасат мұрасы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631156" y="3579465"/>
            <a:ext cx="892968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57534E"/>
                </a:solidFill>
                <a:latin typeface="Lora"/>
                <a:ea typeface="Lora"/>
                <a:cs typeface="Lora"/>
                <a:sym typeface="Lora"/>
              </a:rPr>
              <a:t> «Адам өзінің ішкі жан дүниесін жетілдіріп, білім мен әділеттілікке ұмтылғанда ғана шынайы бақытқа жетеді.» 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4860187" y="4589115"/>
            <a:ext cx="247147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716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Назарларыңызға рақмет!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0201525" y="344725"/>
            <a:ext cx="166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8C2D1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Марат Әділет 9”Ә”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Широкоэкранный</PresentationFormat>
  <Paragraphs>92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Lora</vt:lpstr>
      <vt:lpstr>Plus Jakarta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Adilet Marat</cp:lastModifiedBy>
  <cp:revision>2</cp:revision>
  <dcterms:modified xsi:type="dcterms:W3CDTF">2026-09-27T06:46:55Z</dcterms:modified>
</cp:coreProperties>
</file>